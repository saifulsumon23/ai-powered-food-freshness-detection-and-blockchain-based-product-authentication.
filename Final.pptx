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21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309" r:id="rId9"/>
    <p:sldId id="310" r:id="rId10"/>
    <p:sldId id="298" r:id="rId11"/>
    <p:sldId id="306" r:id="rId12"/>
    <p:sldId id="311" r:id="rId13"/>
    <p:sldId id="300" r:id="rId14"/>
    <p:sldId id="304" r:id="rId15"/>
    <p:sldId id="307" r:id="rId16"/>
    <p:sldId id="291" r:id="rId17"/>
    <p:sldId id="299" r:id="rId18"/>
    <p:sldId id="312" r:id="rId19"/>
    <p:sldId id="295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 fontScale="90000"/>
          </a:bodyPr>
          <a:lstStyle/>
          <a:p>
            <a:r>
              <a:rPr lang="en-US" dirty="0">
                <a:latin typeface="Times New Roman" pitchFamily="18" charset="0"/>
              </a:rPr>
              <a:t>AI-Powered Food Freshness Detection with </a:t>
            </a:r>
            <a:r>
              <a:rPr lang="en-US" dirty="0" err="1">
                <a:latin typeface="Times New Roman" pitchFamily="18" charset="0"/>
              </a:rPr>
              <a:t>Blockchain</a:t>
            </a:r>
            <a:r>
              <a:rPr lang="en-US" dirty="0">
                <a:latin typeface="Times New Roman" pitchFamily="18" charset="0"/>
              </a:rPr>
              <a:t>-Based Product Authentication.</a:t>
            </a:r>
            <a:br>
              <a:rPr lang="en-US" dirty="0">
                <a:latin typeface="Times New Roman" pitchFamily="18" charset="0"/>
              </a:rPr>
            </a:br>
            <a:endParaRPr lang="en-US" dirty="0">
              <a:solidFill>
                <a:srgbClr val="7030A0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695700" y="3973399"/>
            <a:ext cx="4800600" cy="2438400"/>
          </a:xfrm>
        </p:spPr>
        <p:txBody>
          <a:bodyPr rtlCol="0">
            <a:normAutofit fontScale="92500" lnSpcReduction="10000"/>
          </a:bodyPr>
          <a:lstStyle/>
          <a:p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GB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Saiful</a:t>
            </a:r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Islam </a:t>
            </a:r>
            <a:r>
              <a:rPr lang="en-GB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Sumon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221-15-5664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GB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Md. </a:t>
            </a:r>
            <a:r>
              <a:rPr lang="en-GB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Shahinur</a:t>
            </a:r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Rabbi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221-15-4673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&amp; Expected Output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" y="1254577"/>
            <a:ext cx="990600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adulteration and counterfeit packaging are widespread problems in many developing countries due to weak regulatory enforcement.</a:t>
            </a:r>
          </a:p>
          <a:p>
            <a:pPr marL="342900" lvl="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food inspection and traceability systems are largely manual, centralized, and prone to manipulation.</a:t>
            </a:r>
          </a:p>
          <a:p>
            <a:pPr marL="342900" lvl="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often buy products with altered expiry dates or misleading labels, with no reliable way to verify freshness or authenticity.</a:t>
            </a:r>
          </a:p>
          <a:p>
            <a:pPr marL="342900" lvl="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these issues by combining AI-based food freshness detection with blockchain-based secure and immutable product authentication.</a:t>
            </a:r>
          </a:p>
          <a:p>
            <a:pPr marL="342900" lvl="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transparent, trustworthy, and technology-driven approach to modern food safety.</a:t>
            </a:r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F967F3-3B1C-BAA0-12F5-5EF3F12357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47800"/>
            <a:ext cx="10972800" cy="396240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ntegrate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and blockchain to build a secure food safety and authentication system, where AI models (Random Forest,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LSTM) classify food items as fresh or expired using image analysis.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deploy Ethereum smart contracts on the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network to store immutable product data (ID, brand, production and expiry dates), with product images stored on IPFS and access handled through MetaMask-enabled Web3 authentication.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blockchain-based security and verification framework using SHA-256 QR codes, decentralized smart contracts, and immutable records to ensure transparency, integrity, and consumer trust.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BEF3B0-CBC2-36AF-D520-9FAF3A142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435836"/>
              </p:ext>
            </p:extLst>
          </p:nvPr>
        </p:nvGraphicFramePr>
        <p:xfrm>
          <a:off x="590549" y="1489647"/>
          <a:ext cx="11010901" cy="414655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695451">
                  <a:extLst>
                    <a:ext uri="{9D8B030D-6E8A-4147-A177-3AD203B41FA5}">
                      <a16:colId xmlns:a16="http://schemas.microsoft.com/office/drawing/2014/main" val="141668965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312042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6419878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234867149"/>
                    </a:ext>
                  </a:extLst>
                </a:gridCol>
              </a:tblGrid>
              <a:tr h="52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Focus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Key Point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710106"/>
                  </a:ext>
                </a:extLst>
              </a:tr>
              <a:tr h="822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Balta et al. [1]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 food safety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+ SWOT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enables early detection using CNNs and imaging, but suffers from high cost, opacity, and data scarcity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40993"/>
                  </a:ext>
                </a:extLst>
              </a:tr>
              <a:tr h="981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 [2]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Big Data &amp; Blockchain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by data lifecycle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technologies improve monitoring and security but demand large labeled datasets and high computation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1310"/>
                  </a:ext>
                </a:extLst>
              </a:tr>
              <a:tr h="990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Duan et al. [3]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in supply chains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with strategic analysis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enhances traceability and speeds response to food safety incidents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88106"/>
                  </a:ext>
                </a:extLst>
              </a:tr>
              <a:tr h="822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Dimitrakopoulou &amp; Garre [9]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reliability in food safety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implementation cycle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supports outbreak detection and fraud tracking, but performance drops with biased or imbalanced data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491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245D1-F376-F2FA-4CAA-E70C1466C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82138"/>
              </p:ext>
            </p:extLst>
          </p:nvPr>
        </p:nvGraphicFramePr>
        <p:xfrm>
          <a:off x="828675" y="1524000"/>
          <a:ext cx="10534650" cy="3970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712">
                  <a:extLst>
                    <a:ext uri="{9D8B030D-6E8A-4147-A177-3AD203B41FA5}">
                      <a16:colId xmlns:a16="http://schemas.microsoft.com/office/drawing/2014/main" val="3493514346"/>
                    </a:ext>
                  </a:extLst>
                </a:gridCol>
                <a:gridCol w="3894388">
                  <a:extLst>
                    <a:ext uri="{9D8B030D-6E8A-4147-A177-3AD203B41FA5}">
                      <a16:colId xmlns:a16="http://schemas.microsoft.com/office/drawing/2014/main" val="1907943213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731836561"/>
                    </a:ext>
                  </a:extLst>
                </a:gridCol>
              </a:tblGrid>
              <a:tr h="968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543795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Balta et al. 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 food safety</a:t>
                      </a:r>
                    </a:p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clear data governance, standards, and adoption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827023"/>
                  </a:ext>
                </a:extLst>
              </a:tr>
              <a:tr h="968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big data &amp; blockchain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Shortage of labeled data, weak infrastructure, poor model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89088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Duan et al. 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in supply chains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delays, interoperability issues, low awareness, need for standardization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51678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Hema &amp;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Manickavasaga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for food safety</a:t>
                      </a:r>
                    </a:p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research on new adoption drivers and regions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7875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43000"/>
            <a:ext cx="8444217" cy="4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8C8B-9458-1E13-9212-171D05D7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CD09-5B02-FADD-AA1E-9FD2A962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90CF8-42FC-DD46-9EC9-197D53B128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5AEF9-7323-3C08-CACB-CE6B849A3CA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0BD26-C278-CE4E-570C-15B12D1BBD4D}"/>
              </a:ext>
            </a:extLst>
          </p:cNvPr>
          <p:cNvSpPr txBox="1"/>
          <p:nvPr/>
        </p:nvSpPr>
        <p:spPr>
          <a:xfrm>
            <a:off x="1524448" y="1447800"/>
            <a:ext cx="495255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300"/>
              </a:spcBef>
              <a:buFont typeface="Symbol" panose="05050102010706020507" pitchFamily="18" charset="2"/>
              <a:buChar char=""/>
            </a:pPr>
            <a:r>
              <a:rPr lang="en-US" sz="24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Algorithm 1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 indent="0">
              <a:buNone/>
            </a:pPr>
            <a:r>
              <a:rPr lang="en-US" sz="18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lang="en-US" sz="1800" b="0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Food images ( .jpg, .jpeg, .</a:t>
            </a:r>
            <a:r>
              <a:rPr lang="en-US" sz="1800" b="0" dirty="0" err="1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png</a:t>
            </a:r>
            <a:r>
              <a:rPr lang="en-US" sz="1800" b="0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.bmp)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None/>
            </a:pPr>
            <a:endParaRPr lang="en-US" b="1" dirty="0">
              <a:latin typeface="Century" panose="020406040505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Output: Food freshness results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DC65B-8E82-83C4-F657-448D6A6DC9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5" b="6052"/>
          <a:stretch>
            <a:fillRect/>
          </a:stretch>
        </p:blipFill>
        <p:spPr bwMode="auto">
          <a:xfrm>
            <a:off x="6501384" y="1219200"/>
            <a:ext cx="3861816" cy="50329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89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58E2-01B9-CA87-E818-BB549800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A562-78A6-3746-D7BF-4A72B272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ED560-F1B5-157E-D946-2ABFC58520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F6AB3-FE61-2E76-52B7-D2E2A57CE14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3B589-7ED8-96E3-8823-4568AABE6ADC}"/>
              </a:ext>
            </a:extLst>
          </p:cNvPr>
          <p:cNvSpPr txBox="1"/>
          <p:nvPr/>
        </p:nvSpPr>
        <p:spPr>
          <a:xfrm>
            <a:off x="1524000" y="1143000"/>
            <a:ext cx="5943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300"/>
              </a:spcBef>
              <a:buFont typeface="Symbol" panose="05050102010706020507" pitchFamily="18" charset="2"/>
              <a:buChar char=""/>
            </a:pPr>
            <a:r>
              <a:rPr lang="en-US" sz="24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Algorithm  2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buNone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 indent="0">
              <a:buNone/>
            </a:pPr>
            <a:r>
              <a:rPr lang="en-US" sz="18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generation by entering product details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Century" panose="020406040505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effectLst/>
                <a:latin typeface="Century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product information from QR images</a:t>
            </a:r>
            <a:r>
              <a:rPr lang="en-US" b="1" dirty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62FFC-9833-F8F7-7EA6-11B01728B8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1" b="6453"/>
          <a:stretch>
            <a:fillRect/>
          </a:stretch>
        </p:blipFill>
        <p:spPr bwMode="auto">
          <a:xfrm>
            <a:off x="7467600" y="1113182"/>
            <a:ext cx="3657600" cy="49556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9929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107DCE-C8F0-F713-FD9B-EE4C7614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4612"/>
              </p:ext>
            </p:extLst>
          </p:nvPr>
        </p:nvGraphicFramePr>
        <p:xfrm>
          <a:off x="914400" y="1362456"/>
          <a:ext cx="4572000" cy="4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76">
                  <a:extLst>
                    <a:ext uri="{9D8B030D-6E8A-4147-A177-3AD203B41FA5}">
                      <a16:colId xmlns:a16="http://schemas.microsoft.com/office/drawing/2014/main" val="2533175138"/>
                    </a:ext>
                  </a:extLst>
                </a:gridCol>
                <a:gridCol w="1204907">
                  <a:extLst>
                    <a:ext uri="{9D8B030D-6E8A-4147-A177-3AD203B41FA5}">
                      <a16:colId xmlns:a16="http://schemas.microsoft.com/office/drawing/2014/main" val="3481467627"/>
                    </a:ext>
                  </a:extLst>
                </a:gridCol>
                <a:gridCol w="1121810">
                  <a:extLst>
                    <a:ext uri="{9D8B030D-6E8A-4147-A177-3AD203B41FA5}">
                      <a16:colId xmlns:a16="http://schemas.microsoft.com/office/drawing/2014/main" val="1236056652"/>
                    </a:ext>
                  </a:extLst>
                </a:gridCol>
                <a:gridCol w="1204907">
                  <a:extLst>
                    <a:ext uri="{9D8B030D-6E8A-4147-A177-3AD203B41FA5}">
                      <a16:colId xmlns:a16="http://schemas.microsoft.com/office/drawing/2014/main" val="1696471824"/>
                    </a:ext>
                  </a:extLst>
                </a:gridCol>
              </a:tblGrid>
              <a:tr h="234062"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4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4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Used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4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4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688515"/>
                  </a:ext>
                </a:extLst>
              </a:tr>
              <a:tr h="709471"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Balta</a:t>
                      </a:r>
                      <a:r>
                        <a:rPr lang="en-GB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</a:t>
                      </a:r>
                      <a:r>
                        <a:rPr lang="en-GB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al. [1]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&gt;99%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scarcity, “black‑box” opacity, and limited labelled datasets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1239284"/>
                  </a:ext>
                </a:extLst>
              </a:tr>
              <a:tr h="1071023"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K. Duan et al. [2]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&gt;96%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Need for standardized protocols, interoperability issues, lacking diversity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391838"/>
                  </a:ext>
                </a:extLst>
              </a:tr>
              <a:tr h="890247"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US" sz="1000" dirty="0" err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Kanupuru</a:t>
                      </a:r>
                      <a:r>
                        <a:rPr lang="en-US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et al. [5]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YOLOv4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Tiny‑YOLOv4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94%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87%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l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 dataset, higher mis‑classification for the lightweight model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5428063"/>
                  </a:ext>
                </a:extLst>
              </a:tr>
              <a:tr h="752797">
                <a:tc>
                  <a:txBody>
                    <a:bodyPr/>
                    <a:lstStyle/>
                    <a:p>
                      <a:pPr marL="0" marR="19050" algn="just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Proposed Models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just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88%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82%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78%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19050" algn="ctr">
                        <a:lnSpc>
                          <a:spcPct val="121000"/>
                        </a:lnSpc>
                        <a:spcBef>
                          <a:spcPts val="910"/>
                        </a:spcBef>
                        <a:buNone/>
                        <a:tabLst>
                          <a:tab pos="280035" algn="l"/>
                        </a:tabLst>
                      </a:pPr>
                      <a:r>
                        <a:rPr lang="en-GB" sz="1000" b="1" dirty="0">
                          <a:effectLst/>
                          <a:latin typeface="Century" panose="020406040505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×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57431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F706938-A01A-7D9D-529E-0EB31E908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1" y="1653909"/>
            <a:ext cx="6362511" cy="381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Picture 5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A516CA64-212A-7E03-7A47-6A4178F874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895600"/>
            <a:ext cx="4933950" cy="296037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8B2E12-85AC-F865-3ECC-D2E24C9E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91540"/>
              </p:ext>
            </p:extLst>
          </p:nvPr>
        </p:nvGraphicFramePr>
        <p:xfrm>
          <a:off x="3829050" y="1606662"/>
          <a:ext cx="45339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3323">
                  <a:extLst>
                    <a:ext uri="{9D8B030D-6E8A-4147-A177-3AD203B41FA5}">
                      <a16:colId xmlns:a16="http://schemas.microsoft.com/office/drawing/2014/main" val="1476028039"/>
                    </a:ext>
                  </a:extLst>
                </a:gridCol>
                <a:gridCol w="973323">
                  <a:extLst>
                    <a:ext uri="{9D8B030D-6E8A-4147-A177-3AD203B41FA5}">
                      <a16:colId xmlns:a16="http://schemas.microsoft.com/office/drawing/2014/main" val="2152923369"/>
                    </a:ext>
                  </a:extLst>
                </a:gridCol>
                <a:gridCol w="716129">
                  <a:extLst>
                    <a:ext uri="{9D8B030D-6E8A-4147-A177-3AD203B41FA5}">
                      <a16:colId xmlns:a16="http://schemas.microsoft.com/office/drawing/2014/main" val="2607116772"/>
                    </a:ext>
                  </a:extLst>
                </a:gridCol>
                <a:gridCol w="823337">
                  <a:extLst>
                    <a:ext uri="{9D8B030D-6E8A-4147-A177-3AD203B41FA5}">
                      <a16:colId xmlns:a16="http://schemas.microsoft.com/office/drawing/2014/main" val="3972523001"/>
                    </a:ext>
                  </a:extLst>
                </a:gridCol>
                <a:gridCol w="1047788">
                  <a:extLst>
                    <a:ext uri="{9D8B030D-6E8A-4147-A177-3AD203B41FA5}">
                      <a16:colId xmlns:a16="http://schemas.microsoft.com/office/drawing/2014/main" val="302734196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Function Name 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Transaction cost     (ETH)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Execution cost</a:t>
                      </a:r>
                      <a:endParaRPr lang="en-GB" sz="11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      (ETH)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Gas uses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In USD ($)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45215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Contract deploy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0.0004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0.0004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effectLst/>
                        </a:rPr>
                        <a:t> </a:t>
                      </a:r>
                      <a:r>
                        <a:rPr lang="en-GB" sz="1000">
                          <a:effectLst/>
                        </a:rPr>
                        <a:t>1,506,857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1.29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94016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    Product    Registration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0.0007376475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0.0007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491,765</a:t>
                      </a:r>
                      <a:endParaRPr lang="en-GB" sz="1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(1.5 Gwei)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dirty="0">
                          <a:effectLst/>
                        </a:rPr>
                        <a:t>2.26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57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06DEA-C8DF-B973-B951-38701DF9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0B21-2E56-34C8-2DF5-6BE51A3D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2FC26-6BA4-5E29-ED57-0E3D4D7FEE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2DF04-51C7-7A8F-3769-B7A2C1BF22EE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3DBB7C-CA0A-3FCB-462D-5D9D9574C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792420"/>
              </p:ext>
            </p:extLst>
          </p:nvPr>
        </p:nvGraphicFramePr>
        <p:xfrm>
          <a:off x="1066801" y="1123122"/>
          <a:ext cx="10134598" cy="46180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8294">
                  <a:extLst>
                    <a:ext uri="{9D8B030D-6E8A-4147-A177-3AD203B41FA5}">
                      <a16:colId xmlns:a16="http://schemas.microsoft.com/office/drawing/2014/main" val="3547440214"/>
                    </a:ext>
                  </a:extLst>
                </a:gridCol>
                <a:gridCol w="1472009">
                  <a:extLst>
                    <a:ext uri="{9D8B030D-6E8A-4147-A177-3AD203B41FA5}">
                      <a16:colId xmlns:a16="http://schemas.microsoft.com/office/drawing/2014/main" val="3904349357"/>
                    </a:ext>
                  </a:extLst>
                </a:gridCol>
                <a:gridCol w="1436996">
                  <a:extLst>
                    <a:ext uri="{9D8B030D-6E8A-4147-A177-3AD203B41FA5}">
                      <a16:colId xmlns:a16="http://schemas.microsoft.com/office/drawing/2014/main" val="1440423117"/>
                    </a:ext>
                  </a:extLst>
                </a:gridCol>
                <a:gridCol w="983207">
                  <a:extLst>
                    <a:ext uri="{9D8B030D-6E8A-4147-A177-3AD203B41FA5}">
                      <a16:colId xmlns:a16="http://schemas.microsoft.com/office/drawing/2014/main" val="745969106"/>
                    </a:ext>
                  </a:extLst>
                </a:gridCol>
                <a:gridCol w="1361364">
                  <a:extLst>
                    <a:ext uri="{9D8B030D-6E8A-4147-A177-3AD203B41FA5}">
                      <a16:colId xmlns:a16="http://schemas.microsoft.com/office/drawing/2014/main" val="3867804164"/>
                    </a:ext>
                  </a:extLst>
                </a:gridCol>
                <a:gridCol w="983207">
                  <a:extLst>
                    <a:ext uri="{9D8B030D-6E8A-4147-A177-3AD203B41FA5}">
                      <a16:colId xmlns:a16="http://schemas.microsoft.com/office/drawing/2014/main" val="2117597325"/>
                    </a:ext>
                  </a:extLst>
                </a:gridCol>
                <a:gridCol w="1739521">
                  <a:extLst>
                    <a:ext uri="{9D8B030D-6E8A-4147-A177-3AD203B41FA5}">
                      <a16:colId xmlns:a16="http://schemas.microsoft.com/office/drawing/2014/main" val="1592116127"/>
                    </a:ext>
                  </a:extLst>
                </a:gridCol>
              </a:tblGrid>
              <a:tr h="82577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Immutability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Data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Integrity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Accountability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3194456370"/>
                  </a:ext>
                </a:extLst>
              </a:tr>
              <a:tr h="63142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Duan et al. [3]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623325544"/>
                  </a:ext>
                </a:extLst>
              </a:tr>
              <a:tr h="63142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Hema et al. [4] 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3491266370"/>
                  </a:ext>
                </a:extLst>
              </a:tr>
              <a:tr h="63421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 Patel et al. [6]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387272206"/>
                  </a:ext>
                </a:extLst>
              </a:tr>
              <a:tr h="63142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Singh et al. [7]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2508326914"/>
                  </a:ext>
                </a:extLst>
              </a:tr>
              <a:tr h="63142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Tripoli et al. [8]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1739454879"/>
                  </a:ext>
                </a:extLst>
              </a:tr>
              <a:tr h="63235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12700" marT="74930" marB="0"/>
                </a:tc>
                <a:extLst>
                  <a:ext uri="{0D108BD9-81ED-4DB2-BD59-A6C34878D82A}">
                    <a16:rowId xmlns:a16="http://schemas.microsoft.com/office/drawing/2014/main" val="383173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055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CE6682-3813-3F08-9462-F98CAA2F1D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First integrated solution combining LSTM, Random Forest,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Ethereum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Sepolia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deployment instead of costly private networks.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SHA-256 QR binding physical product to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record.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Independent dual-layer architecture for system reliability.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Fully decentralized IPFS image storage.</a:t>
            </a:r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EE64-196C-B3D9-C82D-1C952ED4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3532-2D31-B35B-51FC-878A3DDE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 and Expected output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Input: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Food Image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Output: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Fresh or Rotten label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Confidence via ensemble voting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QR Verification Output: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Product ID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Brand name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Manufacturing &amp; expiry date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IPFS product image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Authentic / Tampered status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4510A-2A45-948C-55F1-C16B1F9D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740A8-B4CC-FE80-9727-34DB4B17747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7" name="Picture 6" descr="A screenshot of a computer&#10;&#10;AI-generated content may be incorrect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3048000"/>
            <a:ext cx="1524000" cy="2063469"/>
          </a:xfrm>
          <a:prstGeom prst="rect">
            <a:avLst/>
          </a:prstGeom>
        </p:spPr>
      </p:pic>
      <p:pic>
        <p:nvPicPr>
          <p:cNvPr id="8" name="Picture 7" descr="A red apple with water drops on it&#10;&#10;AI-generated content may be incorrect.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105400"/>
            <a:ext cx="1120140" cy="112014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48000"/>
            <a:ext cx="1507905" cy="2057400"/>
          </a:xfrm>
          <a:prstGeom prst="rect">
            <a:avLst/>
          </a:prstGeom>
        </p:spPr>
      </p:pic>
      <p:pic>
        <p:nvPicPr>
          <p:cNvPr id="10" name="Picture 9" descr="A rotten apple with a long stem&#10;&#10;AI-generated content may be incorrect.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5105400"/>
            <a:ext cx="962447" cy="98107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886201"/>
            <a:ext cx="1954945" cy="1828800"/>
          </a:xfrm>
          <a:prstGeom prst="rect">
            <a:avLst/>
          </a:prstGeom>
        </p:spPr>
      </p:pic>
      <p:pic>
        <p:nvPicPr>
          <p:cNvPr id="12" name="Picture 11" descr="A screenshot of a carrot&#10;&#10;AI-generated content may be incorrect."/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" t="40711" r="2578" b="8497"/>
          <a:stretch>
            <a:fillRect/>
          </a:stretch>
        </p:blipFill>
        <p:spPr bwMode="auto">
          <a:xfrm>
            <a:off x="8382000" y="3962400"/>
            <a:ext cx="3031435" cy="1524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92470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7" name="Picture 6" descr="A screenshot of a computer&#10;&#10;AI-generated content may be incorrect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32430"/>
            <a:ext cx="2186940" cy="20002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1"/>
          <a:stretch>
            <a:fillRect/>
          </a:stretch>
        </p:blipFill>
        <p:spPr bwMode="auto">
          <a:xfrm>
            <a:off x="6198044" y="916813"/>
            <a:ext cx="2816225" cy="23965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screenshot of a computer&#10;&#10;AI-generated content may be incorrect.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635424"/>
            <a:ext cx="4572000" cy="2396570"/>
          </a:xfrm>
          <a:prstGeom prst="rect">
            <a:avLst/>
          </a:prstGeom>
        </p:spPr>
      </p:pic>
      <p:pic>
        <p:nvPicPr>
          <p:cNvPr id="10" name="Picture 9" descr="A carrot with a qr code&#10;&#10;AI-generated content may be incorrect.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485" y="3607992"/>
            <a:ext cx="1572515" cy="248800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A6D095B-F1B7-FDE0-8422-2245960F19AF}"/>
              </a:ext>
            </a:extLst>
          </p:cNvPr>
          <p:cNvSpPr/>
          <p:nvPr/>
        </p:nvSpPr>
        <p:spPr>
          <a:xfrm>
            <a:off x="4343400" y="1905000"/>
            <a:ext cx="1815086" cy="127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95B98DF-5564-E483-8C85-24127303D396}"/>
              </a:ext>
            </a:extLst>
          </p:cNvPr>
          <p:cNvSpPr/>
          <p:nvPr/>
        </p:nvSpPr>
        <p:spPr>
          <a:xfrm>
            <a:off x="6248400" y="5181600"/>
            <a:ext cx="129540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8A4C9B-8EEA-66B6-2B9C-48C7663EA6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This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successfully demonstrates an integrated AI and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-based framework for ensuring food freshness detection and product authentication. The AI module, powered by Random Forest,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LSTM models with an ensemble voting strategy, accurately classifies food images as fresh or rotten, providing an automated and reliable assessment of food quality. At the same time, the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module deployed on the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Ethereum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Sepolia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network ensures tamper-proof storage of product information using smart contracts, decentralized IPFS image storage, and SHA-256 based QR codes for instant consumer verification. The dual-layer architecture enhances transparency, traceability, and consumer trust while remaining cost-effective and scalable, making the system suitable for real-world deployment, particularly in developing countries.</a:t>
            </a: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2D3D5-5846-6FCC-81E0-6331877196C2}"/>
              </a:ext>
            </a:extLst>
          </p:cNvPr>
          <p:cNvSpPr txBox="1"/>
          <p:nvPr/>
        </p:nvSpPr>
        <p:spPr>
          <a:xfrm>
            <a:off x="931517" y="1267747"/>
            <a:ext cx="103289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I. Balta, J. Lemon, C. A. Popescu, D. McCleery, T. Iancu, et al., “Food safety the transition to artificial intelligence (AI) modus operandi,” </a:t>
            </a:r>
            <a:r>
              <a:rPr lang="en-GB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Trends in Food Science &amp; Technology</a:t>
            </a: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 165, Art. 105278,Nov. 2025 </a:t>
            </a:r>
            <a:b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 Zhou, H. Zhang, S. Wang,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“Artificial intelligence, big data, and blockchain in food safety,”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Food Engineering, vol. 2021, no. 29, 2021. DOI: 10.1515/ijfe-2021-0299.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 Duan, H. 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Onyeaka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 Pang, Z. Meng,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“Pioneering food safety: Blockchain’s integration in supply chain surveillance,”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Agriculture and Food Research, vol. 2024, article 101281, 2024. DOI: 10.1016/j.jafr.2024.101281.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 S. V. Hema and A. 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Manickavasagan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“Blockchain implementation for food safety in supply chain: A review,”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Reviews in Food Science and Food Safety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		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 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Kanupuru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 V. U. Reddy,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Deep Learning Approach to Detect the Spoiled Fruits,”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WSEAS Transactions on Computer Research, vol. 10, no. 10, 2022. DOI: 10.37394/232018.2022.10.10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6470-D896-7B2A-94E0-47C786F3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9748-A017-DB6C-F0C5-510B6003E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CFDAF-685B-7EB6-40D7-575840EE92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86A5D-C518-1758-3E9D-F3C7186E329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08201-3C37-D34F-0408-46A2A734964B}"/>
              </a:ext>
            </a:extLst>
          </p:cNvPr>
          <p:cNvSpPr txBox="1"/>
          <p:nvPr/>
        </p:nvSpPr>
        <p:spPr>
          <a:xfrm>
            <a:off x="931517" y="1267747"/>
            <a:ext cx="103289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 S. Patel, M. N. Brahmbhatt, A. R. 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Bariya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 B. Nayak, V. K. Singh,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“Blockchain technology in food safety and traceability concern to livestock products,”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Heliyon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 9, no. e16526, 2023. DOI: 10.1016/j.heliyon.2023.e16526.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6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 Singh, A. Shenoy, and N. 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Thanekar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“Chain Thread: Blockchain‑Powered Product Verification and Authenticity Tracking,”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for Research in Applied Science and Engineering Technology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 13, no. 4, pp. 8, Apr. 2025.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6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 Tripoli and J. 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“Emerging Opportunities for the Application of Blockchain in the Agri‑food Industry,” FAO &amp;amp; ICTSD, 2018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+mj-lt"/>
              <a:buAutoNum type="arabicPeriod" startAt="6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M.‑E. Dimitrakopoulou and A. Garre, “AI’s intelligence for improving food safety: only as strong as the data that feeds it,”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Food Science and Technology Reports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 3, no. 1, p. 15, May 2025	</a:t>
            </a:r>
            <a:r>
              <a:rPr lang="en-GB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5487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1696</TotalTime>
  <Words>1539</Words>
  <Application>Microsoft Office PowerPoint</Application>
  <PresentationFormat>Widescreen</PresentationFormat>
  <Paragraphs>253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</vt:lpstr>
      <vt:lpstr>Symbol</vt:lpstr>
      <vt:lpstr>Times New Roman</vt:lpstr>
      <vt:lpstr>Wingdings</vt:lpstr>
      <vt:lpstr>New Microsoft PowerPoint Presentation</vt:lpstr>
      <vt:lpstr>AI-Powered Food Freshness Detection with Blockchain-Based Product Authentication. </vt:lpstr>
      <vt:lpstr>Outline</vt:lpstr>
      <vt:lpstr>Introduction</vt:lpstr>
      <vt:lpstr>Objective</vt:lpstr>
      <vt:lpstr>Background Study</vt:lpstr>
      <vt:lpstr>Gap Analysis</vt:lpstr>
      <vt:lpstr>Methodology</vt:lpstr>
      <vt:lpstr>Methodology</vt:lpstr>
      <vt:lpstr>Methodology</vt:lpstr>
      <vt:lpstr>Result and Analysis</vt:lpstr>
      <vt:lpstr>Result and Analysis</vt:lpstr>
      <vt:lpstr>Result and Analysis</vt:lpstr>
      <vt:lpstr>Novelty of the Work</vt:lpstr>
      <vt:lpstr>Sample dataset and Expected output</vt:lpstr>
      <vt:lpstr>Web Interface of Image Enhancement</vt:lpstr>
      <vt:lpstr>Conclusion</vt:lpstr>
      <vt:lpstr>References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Office</cp:lastModifiedBy>
  <cp:revision>294</cp:revision>
  <dcterms:created xsi:type="dcterms:W3CDTF">2011-07-17T02:56:35Z</dcterms:created>
  <dcterms:modified xsi:type="dcterms:W3CDTF">2026-01-07T04:12:18Z</dcterms:modified>
</cp:coreProperties>
</file>